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3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02AE-9714-2831-7F60-0966383D3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20B7C-3DC1-479A-5308-06E82AE73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4BCF0-DA3A-8FE5-3D13-09ED4AB7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DBA8-0D14-4044-BE73-0C0CB418E79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A550F-2E66-AA20-1FD7-3C85619B5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ED78A-33DA-FAC3-4FB4-8794010E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00F2-B47B-46A8-A512-93B237CF7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9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0099-61D6-7554-DE6D-8A2464C5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7BE8F-392D-5B33-F482-E652A2FBB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F6262-D4A5-3D41-1D8C-4165A79B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DBA8-0D14-4044-BE73-0C0CB418E79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4C3DA-7E9E-2BAE-BBA9-8ED63CC90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02217-66E2-F6A5-D572-8D0A1C47C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00F2-B47B-46A8-A512-93B237CF7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459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450B-E7BA-2659-3BA7-F5C0B1C54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F06D5-6483-716A-3E6E-FB5F09EA9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5698-FA92-C177-B9F6-32A9911A2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DBA8-0D14-4044-BE73-0C0CB418E79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0C996-254B-E6FF-22B5-0010E583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34546-87E1-5A69-068A-FD606D37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00F2-B47B-46A8-A512-93B237CF7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93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14D99-9E38-B6D5-C540-0493036B7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C05FA-6CB7-A97E-DBF4-01654116A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FC7C7-59A2-FA76-64F9-54B3463FC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BCF93-C08A-52F1-A32B-65728BE65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DBA8-0D14-4044-BE73-0C0CB418E79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03E64-DE15-86E6-9E7A-B066C2DAC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0C910-F197-C4B1-2D7C-ECE9FD7A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00F2-B47B-46A8-A512-93B237CF7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38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F6548-D38F-405D-E823-635BDC58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A0214-C4D9-0089-377C-057DA690B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CD9D6-284E-3F6A-EDCC-1B78BB104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A8ADC4-5647-6618-51B9-327627DA0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45F092-32F3-93FD-0893-D50821B1D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AD662-3C3D-51B3-D46E-F7844C02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DBA8-0D14-4044-BE73-0C0CB418E79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7FC741-EA0F-4FA6-45F2-ED6A912F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045451-1BBF-161B-9399-FC4FDA0B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00F2-B47B-46A8-A512-93B237CF7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1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9404-5794-1334-6CD4-F56F1DD5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3CB125-A08C-975B-5236-8640C9D0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DBA8-0D14-4044-BE73-0C0CB418E79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9B57A-D8BD-4457-2D03-8012A0590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0D0A4-7DCE-81D6-7660-C61CCB08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00F2-B47B-46A8-A512-93B237CF7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1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837CFE-E3D2-38F6-89EE-04C095C3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DBA8-0D14-4044-BE73-0C0CB418E79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7886D-BACE-41B7-7BD5-6029F13A7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A64D7-02F4-9E5D-4874-CA9596F1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00F2-B47B-46A8-A512-93B237CF7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97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B472-E9AE-2148-F879-48822B63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998DF-9372-153C-9E60-C3C0FFF5B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973AE-51A9-A1A3-4B65-62966F3C7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03849-8464-0942-86C0-87054B06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DBA8-0D14-4044-BE73-0C0CB418E79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F545D-78FE-22A6-0CD8-A792CC622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31A34-43F3-7B9C-0A26-901FBD64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00F2-B47B-46A8-A512-93B237CF7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98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51A9-7B0E-D0BB-88B1-F460D46B4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B5315D-14AD-677F-61D1-CEBF9689C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B0D3E-C4DE-FF5D-53A4-A116C19A5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AD981-2910-8893-A12E-4920D1194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DBA8-0D14-4044-BE73-0C0CB418E79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E9B45-C28C-A74B-C6A5-C66A458B2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5E6A0-34C5-4757-3812-18CD241C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00F2-B47B-46A8-A512-93B237CF7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29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B078-9611-E85A-A8A3-4515C7E9C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72C00-3E16-BD14-C9C0-BBE62E448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89843-E8CF-9913-E713-4AA64DE65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DBA8-0D14-4044-BE73-0C0CB418E79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FD5DC-6E20-BBBC-659A-D1CE30F48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61C5D-0EF5-81B2-7801-19B7D668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00F2-B47B-46A8-A512-93B237CF7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17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9B8B5-8AAA-8D4C-8F5E-2E67A6EA1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814A3-89ED-9BC3-7CE2-190A41DB1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3DD45-D512-2D51-7483-BFF85335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DBA8-0D14-4044-BE73-0C0CB418E79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5AB0F-DA45-D5C3-271F-0E61A061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E3767-FD8B-B3DC-9D02-41839D31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D00F2-B47B-46A8-A512-93B237CF7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8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0D4003-1D2C-EF64-8C48-63199ADB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1A3BE-BC75-E6C2-896A-505DA17D5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525D7-DCC7-5B8B-EE32-FCFDCC685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5DBA8-0D14-4044-BE73-0C0CB418E79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2CC45-3B60-4853-F944-CA7CBF8C5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5CEB2-48D7-191B-A6E1-4E78EA142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D00F2-B47B-46A8-A512-93B237CF7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8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2" name="Rectangle 20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06" name="Freeform: Shape 205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C770AD-DD18-6B5A-F633-7B9A3C767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Mushroom Overload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56CE1-B029-1B5C-F11F-3566CF74C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US" sz="1500">
                <a:solidFill>
                  <a:schemeClr val="tx2"/>
                </a:solidFill>
              </a:rPr>
              <a:t>A Full Data-Mining Workflow on a Large Categorical Dataset</a:t>
            </a:r>
          </a:p>
          <a:p>
            <a:r>
              <a:rPr lang="en-US" sz="1500">
                <a:solidFill>
                  <a:schemeClr val="tx2"/>
                </a:solidFill>
              </a:rPr>
              <a:t>By Roger Ocker</a:t>
            </a: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6007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31DBFC-07EA-5159-A525-25162572D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Project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EF505-F4DE-10C2-4B0E-AC2F7E264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How can I use this project to gain real experience applying full data-mining workflow across multiple techniques</a:t>
            </a:r>
          </a:p>
          <a:p>
            <a:r>
              <a:rPr lang="en-US" sz="1800">
                <a:solidFill>
                  <a:schemeClr val="tx2"/>
                </a:solidFill>
              </a:rPr>
              <a:t>Data related: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Can the data classify edible vs. poisonous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Which traits carry the strongest signal for toxicity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Do supervised, unsupervised, and statistical methods all tell the same story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How do different algorithms behave on a large dataset</a:t>
            </a:r>
          </a:p>
        </p:txBody>
      </p:sp>
    </p:spTree>
    <p:extLst>
      <p:ext uri="{BB962C8B-B14F-4D97-AF65-F5344CB8AC3E}">
        <p14:creationId xmlns:p14="http://schemas.microsoft.com/office/powerpoint/2010/main" val="3075504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725354-023C-93AF-F91C-84A0DC39C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Data and Data Prep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92ABD-4E8E-9E7B-DD3C-027572327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Dataset: Mushroom Overload; 6.7 million cases, 21 features (3 numeric) totally synthetic</a:t>
            </a:r>
          </a:p>
          <a:p>
            <a:r>
              <a:rPr lang="en-US" sz="1800" dirty="0">
                <a:solidFill>
                  <a:schemeClr val="tx2"/>
                </a:solidFill>
              </a:rPr>
              <a:t>Converted all categorical columns to python category datatype</a:t>
            </a:r>
          </a:p>
          <a:p>
            <a:r>
              <a:rPr lang="en-US" sz="1800" dirty="0">
                <a:solidFill>
                  <a:schemeClr val="tx2"/>
                </a:solidFill>
              </a:rPr>
              <a:t>Memory reduced from 5 GB to 270 MB</a:t>
            </a:r>
          </a:p>
          <a:p>
            <a:r>
              <a:rPr lang="en-US" sz="1800" dirty="0">
                <a:solidFill>
                  <a:schemeClr val="tx2"/>
                </a:solidFill>
              </a:rPr>
              <a:t>Saved the compact version using Parquet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Removed 8 features with 60-95% missing cases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Created a binary target from the edible/poisonous class feature</a:t>
            </a:r>
          </a:p>
          <a:p>
            <a:r>
              <a:rPr lang="en-US" sz="1800" dirty="0">
                <a:solidFill>
                  <a:schemeClr val="tx2"/>
                </a:solidFill>
              </a:rPr>
              <a:t>One hot encoded for LR/NB and Ordinal encoded for tree based models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346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2A9A05C-8651-B78F-D910-B8D1804C3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Techniques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6CD64-326A-FD7C-E70C-3C431CE16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100">
                <a:solidFill>
                  <a:schemeClr val="tx2"/>
                </a:solidFill>
              </a:rPr>
              <a:t>Logistic Regression</a:t>
            </a:r>
          </a:p>
          <a:p>
            <a:pPr lvl="1"/>
            <a:r>
              <a:rPr lang="en-US" sz="1100">
                <a:solidFill>
                  <a:schemeClr val="tx2"/>
                </a:solidFill>
              </a:rPr>
              <a:t>Establish a baseline model that shows how a linear decision boundary would perform</a:t>
            </a:r>
          </a:p>
          <a:p>
            <a:r>
              <a:rPr lang="en-US" sz="1100">
                <a:solidFill>
                  <a:schemeClr val="tx2"/>
                </a:solidFill>
              </a:rPr>
              <a:t>Naïve Bayes Classifier – Bernoulli</a:t>
            </a:r>
          </a:p>
          <a:p>
            <a:pPr lvl="1"/>
            <a:r>
              <a:rPr lang="en-US" sz="1100">
                <a:solidFill>
                  <a:schemeClr val="tx2"/>
                </a:solidFill>
              </a:rPr>
              <a:t>A fast probabilistic model and one-hot encoded categorical features naturally form a binary feature matrix, which is exactly the input Bernoulli NB is designed for</a:t>
            </a:r>
          </a:p>
          <a:p>
            <a:r>
              <a:rPr lang="en-US" sz="1100">
                <a:solidFill>
                  <a:schemeClr val="tx2"/>
                </a:solidFill>
              </a:rPr>
              <a:t>Random Forest and a Decision Tree</a:t>
            </a:r>
          </a:p>
          <a:p>
            <a:pPr lvl="1"/>
            <a:r>
              <a:rPr lang="en-US" sz="1100">
                <a:solidFill>
                  <a:schemeClr val="tx2"/>
                </a:solidFill>
              </a:rPr>
              <a:t>Handles non-linear patterns and feature interactions really well</a:t>
            </a:r>
          </a:p>
          <a:p>
            <a:pPr lvl="1"/>
            <a:r>
              <a:rPr lang="en-US" sz="1100">
                <a:solidFill>
                  <a:schemeClr val="tx2"/>
                </a:solidFill>
              </a:rPr>
              <a:t>Compare a single decision tree to the random forest</a:t>
            </a:r>
          </a:p>
          <a:p>
            <a:r>
              <a:rPr lang="en-US" sz="1100">
                <a:solidFill>
                  <a:schemeClr val="tx2"/>
                </a:solidFill>
              </a:rPr>
              <a:t>FP-Growth association</a:t>
            </a:r>
          </a:p>
          <a:p>
            <a:pPr lvl="1"/>
            <a:r>
              <a:rPr lang="en-US" sz="1100">
                <a:solidFill>
                  <a:schemeClr val="tx2"/>
                </a:solidFill>
              </a:rPr>
              <a:t>To uncover clear “if–then” relationships in the categorical variables and validate whether strong toxic signatures appear outside of supervised modeling</a:t>
            </a:r>
          </a:p>
          <a:p>
            <a:r>
              <a:rPr lang="en-US" sz="1100">
                <a:solidFill>
                  <a:schemeClr val="tx2"/>
                </a:solidFill>
              </a:rPr>
              <a:t>Chi-Square analysis</a:t>
            </a:r>
          </a:p>
          <a:p>
            <a:pPr lvl="1"/>
            <a:r>
              <a:rPr lang="en-US" sz="1100">
                <a:solidFill>
                  <a:schemeClr val="tx2"/>
                </a:solidFill>
              </a:rPr>
              <a:t>Statistically rank which categorical features are most strongly associated with toxicity</a:t>
            </a:r>
          </a:p>
          <a:p>
            <a:r>
              <a:rPr lang="en-US" sz="1100">
                <a:solidFill>
                  <a:schemeClr val="tx2"/>
                </a:solidFill>
              </a:rPr>
              <a:t>Cramer’s V heatmap</a:t>
            </a:r>
          </a:p>
          <a:p>
            <a:pPr lvl="1"/>
            <a:r>
              <a:rPr lang="en-US" sz="1100">
                <a:solidFill>
                  <a:schemeClr val="tx2"/>
                </a:solidFill>
              </a:rPr>
              <a:t>Look at how the categorical variable related to each other</a:t>
            </a:r>
          </a:p>
          <a:p>
            <a:r>
              <a:rPr lang="en-US" sz="1100">
                <a:solidFill>
                  <a:schemeClr val="tx2"/>
                </a:solidFill>
              </a:rPr>
              <a:t>K-Modes Cluster</a:t>
            </a:r>
          </a:p>
          <a:p>
            <a:pPr lvl="1"/>
            <a:r>
              <a:rPr lang="en-US" sz="1100">
                <a:solidFill>
                  <a:schemeClr val="tx2"/>
                </a:solidFill>
              </a:rPr>
              <a:t>To explore the natural groupings in the dataset and see whether the edible/poisonous separation emerges even without labels</a:t>
            </a:r>
          </a:p>
          <a:p>
            <a:endParaRPr lang="en-US" sz="1100">
              <a:solidFill>
                <a:schemeClr val="tx2"/>
              </a:solidFill>
            </a:endParaRPr>
          </a:p>
          <a:p>
            <a:endParaRPr 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580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148A03-E34E-2D83-764B-A510A0FE9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B4C4F-E3EB-D8C0-B649-18B7E5DA0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 lnSpcReduction="10000"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Across all methods the same core patterns appeared</a:t>
            </a:r>
          </a:p>
          <a:p>
            <a:r>
              <a:rPr lang="en-US" sz="1800" dirty="0">
                <a:solidFill>
                  <a:schemeClr val="tx2"/>
                </a:solidFill>
              </a:rPr>
              <a:t>A small set of categorical traits carried the strongest signal for toxicity (5 out 21 features)</a:t>
            </a:r>
          </a:p>
          <a:p>
            <a:r>
              <a:rPr lang="en-US" sz="1800" dirty="0"/>
              <a:t>Linear and probabilistic models showed limited performance due to weak individual predictors</a:t>
            </a:r>
          </a:p>
          <a:p>
            <a:r>
              <a:rPr lang="en-US" sz="1800" dirty="0"/>
              <a:t>Tree-based models captured interactions extremely well and reached </a:t>
            </a:r>
            <a:r>
              <a:rPr lang="en-US" sz="1800" b="1" dirty="0"/>
              <a:t>near-perfect accuracy</a:t>
            </a:r>
            <a:r>
              <a:rPr lang="en-US" sz="1800" dirty="0"/>
              <a:t>, confirming the dataset is highly separable</a:t>
            </a:r>
          </a:p>
          <a:p>
            <a:r>
              <a:rPr lang="en-US" sz="1800" dirty="0"/>
              <a:t>FP-Growth identified 2 simple, interpretable rules  where certain ring types or cap colors strongly imply toxicity</a:t>
            </a:r>
          </a:p>
          <a:p>
            <a:r>
              <a:rPr lang="en-US" sz="1800" dirty="0"/>
              <a:t>Chi-Square and Cramér’s V statistically validated the same features the models relied on</a:t>
            </a:r>
          </a:p>
          <a:p>
            <a:r>
              <a:rPr lang="en-US" sz="1800" dirty="0"/>
              <a:t>K-Modes clustering, even without labels, naturally split the mushrooms into mostly-edible and mostly-poisonous groups, reinforcing the dataset’s clean categorical structure</a:t>
            </a: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67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top view of books with different cover colors">
            <a:extLst>
              <a:ext uri="{FF2B5EF4-FFF2-40B4-BE49-F238E27FC236}">
                <a16:creationId xmlns:a16="http://schemas.microsoft.com/office/drawing/2014/main" id="{15008BD4-798B-92E2-5A36-57AA835600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02" r="14810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366F4C-190B-454D-1D78-9ACF1099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Knowledge Gained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D907D-65EC-1944-64C4-18A466975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How to process large categorical dataset – and memory management</a:t>
            </a:r>
          </a:p>
          <a:p>
            <a:r>
              <a:rPr lang="en-US" sz="1700"/>
              <a:t>Applying and comparing many analytical methods</a:t>
            </a:r>
          </a:p>
          <a:p>
            <a:r>
              <a:rPr lang="en-US" sz="1700"/>
              <a:t>Understanding model limitations</a:t>
            </a:r>
          </a:p>
          <a:p>
            <a:r>
              <a:rPr lang="en-US" sz="1700"/>
              <a:t>Practice interpreting feature importance, association rules, and clusters</a:t>
            </a:r>
          </a:p>
          <a:p>
            <a:r>
              <a:rPr lang="en-US" sz="1700"/>
              <a:t>Cross validating findings across multiple methods</a:t>
            </a:r>
          </a:p>
          <a:p>
            <a:r>
              <a:rPr lang="en-US" sz="1700"/>
              <a:t>Practice choosing the right model and when it is safe and practical to sample</a:t>
            </a:r>
          </a:p>
        </p:txBody>
      </p:sp>
    </p:spTree>
    <p:extLst>
      <p:ext uri="{BB962C8B-B14F-4D97-AF65-F5344CB8AC3E}">
        <p14:creationId xmlns:p14="http://schemas.microsoft.com/office/powerpoint/2010/main" val="2245015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455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Mushroom Overload</vt:lpstr>
      <vt:lpstr>Project Questions</vt:lpstr>
      <vt:lpstr>Data and Data Prep</vt:lpstr>
      <vt:lpstr>Techniques Used</vt:lpstr>
      <vt:lpstr>Findings</vt:lpstr>
      <vt:lpstr>Knowledge Gained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Roger Ocker</dc:creator>
  <cp:lastModifiedBy>Roger Ocker</cp:lastModifiedBy>
  <cp:revision>1</cp:revision>
  <dcterms:created xsi:type="dcterms:W3CDTF">2025-12-05T22:14:50Z</dcterms:created>
  <dcterms:modified xsi:type="dcterms:W3CDTF">2025-12-05T22:43:37Z</dcterms:modified>
</cp:coreProperties>
</file>